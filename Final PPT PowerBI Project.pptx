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7" r:id="rId1"/>
  </p:sldMasterIdLst>
  <p:sldIdLst>
    <p:sldId id="256" r:id="rId2"/>
    <p:sldId id="257" r:id="rId3"/>
    <p:sldId id="258" r:id="rId4"/>
    <p:sldId id="270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977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266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238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572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617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23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59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06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70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27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8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BA9AA-8766-4B27-9437-E6E0029454DB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1CE36EB-A94C-4A31-9579-62F83EBC5A9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973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C2947-7F43-1E01-D279-615ADE14B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00131"/>
          </a:xfrm>
        </p:spPr>
        <p:txBody>
          <a:bodyPr/>
          <a:lstStyle/>
          <a:p>
            <a:r>
              <a:rPr lang="en-US" sz="4800" u="sng" dirty="0"/>
              <a:t>Loan Repayment &amp; Credit Risk Analysis</a:t>
            </a:r>
            <a:endParaRPr lang="en-IN" sz="4800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6DB70-A87B-9EF4-5B89-EB9F51697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19718"/>
            <a:ext cx="9144000" cy="2510118"/>
          </a:xfrm>
        </p:spPr>
        <p:txBody>
          <a:bodyPr/>
          <a:lstStyle/>
          <a:p>
            <a:r>
              <a:rPr lang="en-IN" dirty="0"/>
              <a:t>Power BI Dashboard Project</a:t>
            </a:r>
          </a:p>
          <a:p>
            <a:r>
              <a:rPr lang="en-IN" dirty="0"/>
              <a:t>Fintech / Banking Domain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DD35685-BF23-BDA3-D846-5299E3197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042" y="4472970"/>
            <a:ext cx="319991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Prepared by: </a:t>
            </a:r>
            <a:r>
              <a:rPr lang="en-US" altLang="en-US" b="1" i="1" dirty="0">
                <a:latin typeface="Baskerville Old Face" panose="02020602080505020303" pitchFamily="18" charset="0"/>
              </a:rPr>
              <a:t>Abhinav Shivhare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skerville Old Face" panose="020206020805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skerville Old Face" panose="02020602080505020303" pitchFamily="18" charset="0"/>
              </a:rPr>
              <a:t>Tool Used: Power BI</a:t>
            </a:r>
          </a:p>
        </p:txBody>
      </p:sp>
    </p:spTree>
    <p:extLst>
      <p:ext uri="{BB962C8B-B14F-4D97-AF65-F5344CB8AC3E}">
        <p14:creationId xmlns:p14="http://schemas.microsoft.com/office/powerpoint/2010/main" val="365206120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2A76-2398-CAFB-7242-F7E659149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u="sng" dirty="0"/>
              <a:t>Introduction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0AA5-9B89-0004-3949-0629BA85C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banking and fintech industry, understanding loan repayment behavior and credit risk is crucial to maintaining a healthy loan portfolio.</a:t>
            </a:r>
          </a:p>
          <a:p>
            <a:r>
              <a:rPr lang="en-US" dirty="0"/>
              <a:t>This Power BI project focuses on analyzing loan repayment patterns, borrower profiles, and delinquency behavior to identify risk factors associated with loan defaults.</a:t>
            </a:r>
          </a:p>
          <a:p>
            <a:r>
              <a:rPr lang="en-US" dirty="0"/>
              <a:t>The dashboard provides data-driven insights that help financial institutions improve credit decision-making, reduce default risk, and optimize loan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016982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1DEF-9F0C-103F-D67E-487AEACB0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u="sng" dirty="0">
                <a:latin typeface="+mn-lt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AC275E-E6F4-72A5-0B8C-F8D0C99ADA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07142" y="2484469"/>
            <a:ext cx="1024203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loan repayment and default behavior of borrowers.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high-risk borrowers using credit score, delinquencies, and repayment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compare loan performance across employment status, education level, and loan purpose.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loan trends over time using year, quarter, and monthly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calculate key credit risk KPIs such as Repayment Rate, Default Rate, and Outstanding Amount.</a:t>
            </a:r>
          </a:p>
        </p:txBody>
      </p:sp>
    </p:spTree>
    <p:extLst>
      <p:ext uri="{BB962C8B-B14F-4D97-AF65-F5344CB8AC3E}">
        <p14:creationId xmlns:p14="http://schemas.microsoft.com/office/powerpoint/2010/main" val="82785868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A6144-1A36-20EC-A4F2-502D0EF37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Requirement Document (BRD)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A8498-8A4B-9725-F444-AAE659CB1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3163" y="2088320"/>
            <a:ext cx="4879199" cy="608698"/>
          </a:xfrm>
        </p:spPr>
        <p:txBody>
          <a:bodyPr/>
          <a:lstStyle/>
          <a:p>
            <a:pPr algn="ctr"/>
            <a:r>
              <a:rPr lang="en-IN" dirty="0"/>
              <a:t>Business Requirement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D3B3175-D4CD-5778-4270-25533F26222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4425" y="3065389"/>
            <a:ext cx="50684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 loan repayment behavior and     credit risk to reduce defaults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high-risk borrowers using credit score and delinquency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time-based analysis to track loan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Display key KPIs for quick decision-making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555B3A-BE3C-43D9-8C69-5890BCC2A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608698"/>
          </a:xfrm>
        </p:spPr>
        <p:txBody>
          <a:bodyPr/>
          <a:lstStyle/>
          <a:p>
            <a:pPr algn="ctr"/>
            <a:r>
              <a:rPr lang="en-IN" dirty="0"/>
              <a:t>Expected Business Outcomes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2D410-A282-5860-B473-EF234E75B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2848" y="3065389"/>
            <a:ext cx="5095357" cy="28789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visibility into </a:t>
            </a:r>
            <a:r>
              <a:rPr lang="en-US" b="1" dirty="0"/>
              <a:t>loan portfolio health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Early identification of </a:t>
            </a:r>
            <a:r>
              <a:rPr lang="en-US" b="1" dirty="0"/>
              <a:t>default-prone borrowers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</a:t>
            </a:r>
            <a:r>
              <a:rPr lang="en-US" b="1" dirty="0"/>
              <a:t>credit risk assessment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for </a:t>
            </a:r>
            <a:r>
              <a:rPr lang="en-US" b="1" dirty="0"/>
              <a:t>data-driven lending decisions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30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4333-DADD-4534-B276-782615FE8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D3840A-B765-9D1C-EA83-9DAD4C4649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33600" y="1693121"/>
            <a:ext cx="8382000" cy="4060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dataset contains </a:t>
            </a:r>
            <a:r>
              <a:rPr lang="en-US" sz="1800" b="1" dirty="0"/>
              <a:t>20,000+ loan records</a:t>
            </a:r>
            <a:r>
              <a:rPr lang="en-US" sz="1800" dirty="0"/>
              <a:t>, representing borrower and loan-level information from the banking and fintech domain.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data covers a </a:t>
            </a:r>
            <a:r>
              <a:rPr lang="en-US" sz="1800" b="1" dirty="0"/>
              <a:t>time period from 2021 to 2023</a:t>
            </a:r>
            <a:r>
              <a:rPr lang="en-US" sz="1800" dirty="0"/>
              <a:t>, which allows trend and time-based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Each record represents an individual loan along with borrower characteristics and repayment status.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dataset includes both </a:t>
            </a:r>
            <a:r>
              <a:rPr lang="en-US" sz="1800" b="1" dirty="0"/>
              <a:t>numerical and categorical variables</a:t>
            </a:r>
            <a:r>
              <a:rPr lang="en-US" sz="1800" dirty="0"/>
              <a:t>, enabling comparative, compositional, and statistical analysis.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71942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9EF2-9642-10B7-6ED8-DFC35A2E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Loan Repayment Status Distribution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B29DB00-DC91-39A4-3BBC-71AD6B89C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7841" y="2367840"/>
            <a:ext cx="3703641" cy="2900267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F84832C-7FF1-E910-204F-13BC164A9BEF}"/>
              </a:ext>
            </a:extLst>
          </p:cNvPr>
          <p:cNvSpPr txBox="1"/>
          <p:nvPr/>
        </p:nvSpPr>
        <p:spPr>
          <a:xfrm>
            <a:off x="1165411" y="2802312"/>
            <a:ext cx="50202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chart shows the overall loan repayment performance.</a:t>
            </a:r>
          </a:p>
          <a:p>
            <a:br>
              <a:rPr lang="en-US" dirty="0"/>
            </a:br>
            <a:r>
              <a:rPr lang="en-US" dirty="0"/>
              <a:t>Around 80% of loans are successfully repaid, while nearly 20% fall under default category.</a:t>
            </a:r>
          </a:p>
          <a:p>
            <a:br>
              <a:rPr lang="en-US" dirty="0"/>
            </a:br>
            <a:r>
              <a:rPr lang="en-US" dirty="0"/>
              <a:t>This gives a quick snapshot of portfolio health.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230332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1C84-77DA-B2B7-3D49-103FAD0F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Loan Amount by Purpose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6FE812-80E1-BADA-62E4-A6E58F897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3216" y="2465295"/>
            <a:ext cx="4801638" cy="230832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A18E2C4-8DED-C92B-3121-B5BAA7EB3E28}"/>
              </a:ext>
            </a:extLst>
          </p:cNvPr>
          <p:cNvSpPr txBox="1"/>
          <p:nvPr/>
        </p:nvSpPr>
        <p:spPr>
          <a:xfrm>
            <a:off x="1313332" y="2465294"/>
            <a:ext cx="439718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chart compares total loan amount across different loan purposes.</a:t>
            </a:r>
          </a:p>
          <a:p>
            <a:br>
              <a:rPr lang="en-US" dirty="0"/>
            </a:br>
            <a:r>
              <a:rPr lang="en-US" dirty="0"/>
              <a:t>Debt consolidation contributes the highest loan amount, followed by car and home loans.</a:t>
            </a:r>
            <a:br>
              <a:rPr lang="en-US" dirty="0"/>
            </a:br>
            <a:r>
              <a:rPr lang="en-US" dirty="0"/>
              <a:t>This helps identify major drivers of loan demand.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956906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29A6C-BCD8-9AB4-EC07-5D9BF36E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u="sng" dirty="0"/>
              <a:t>Loan Repayment Status by Employment Type</a:t>
            </a:r>
            <a:endParaRPr lang="en-IN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34A642-3CDA-327C-1E53-9AC12DD57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330824"/>
            <a:ext cx="4958854" cy="305486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1DA900-41DE-DEA3-48F0-83778CD1E6E6}"/>
              </a:ext>
            </a:extLst>
          </p:cNvPr>
          <p:cNvSpPr txBox="1"/>
          <p:nvPr/>
        </p:nvSpPr>
        <p:spPr>
          <a:xfrm>
            <a:off x="1295402" y="2800364"/>
            <a:ext cx="429857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chart analyzes loan repayment behavior across employment categories.</a:t>
            </a:r>
          </a:p>
          <a:p>
            <a:br>
              <a:rPr lang="en-US" dirty="0"/>
            </a:br>
            <a:r>
              <a:rPr lang="en-US" dirty="0"/>
              <a:t>Employed borrowers have the highest repayment count, indicating more stable income sources.</a:t>
            </a:r>
          </a:p>
          <a:p>
            <a:br>
              <a:rPr lang="en-US" dirty="0"/>
            </a:br>
            <a:r>
              <a:rPr lang="en-US" dirty="0"/>
              <a:t>Unemployed and student segments show relatively lower repayment volumes.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092102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B1185-906D-65C4-7544-A9FDC8212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Year-wise Loan Repayment vs Default</a:t>
            </a:r>
            <a:endParaRPr lang="en-IN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DF55EC-CF5B-DEFB-1FE1-4BAEBBDC0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4256" y="2259106"/>
            <a:ext cx="4800598" cy="291975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511BE2-E238-AD88-5A50-1D4E0C56EB6A}"/>
              </a:ext>
            </a:extLst>
          </p:cNvPr>
          <p:cNvSpPr txBox="1"/>
          <p:nvPr/>
        </p:nvSpPr>
        <p:spPr>
          <a:xfrm>
            <a:off x="1295402" y="3147537"/>
            <a:ext cx="48005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chart shows year-wise comparison of repaid and defaulted loans.</a:t>
            </a:r>
          </a:p>
          <a:p>
            <a:br>
              <a:rPr lang="en-US" dirty="0"/>
            </a:br>
            <a:r>
              <a:rPr lang="en-US" dirty="0"/>
              <a:t>Loan volumes peaked in 2022, while default levels remained relatively consistent.</a:t>
            </a:r>
          </a:p>
          <a:p>
            <a:br>
              <a:rPr lang="en-US" dirty="0"/>
            </a:br>
            <a:r>
              <a:rPr lang="en-US" dirty="0"/>
              <a:t>This indicates stable risk performance over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695347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BB09-2927-3084-9502-F57F7BA2D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Loan Amount Trend (Year / Quarter)</a:t>
            </a:r>
            <a:endParaRPr lang="en-IN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A82F73-C4B8-CF88-0A75-B5E20987A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7394" y="2537088"/>
            <a:ext cx="5997460" cy="27663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74B001-DF60-A9A6-AE78-57664E4B8F02}"/>
              </a:ext>
            </a:extLst>
          </p:cNvPr>
          <p:cNvSpPr txBox="1"/>
          <p:nvPr/>
        </p:nvSpPr>
        <p:spPr>
          <a:xfrm>
            <a:off x="1295402" y="2915427"/>
            <a:ext cx="374276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chart tracks loan amount trends across years and quarters.</a:t>
            </a:r>
          </a:p>
          <a:p>
            <a:br>
              <a:rPr lang="en-US" dirty="0"/>
            </a:br>
            <a:r>
              <a:rPr lang="en-US" dirty="0"/>
              <a:t>Loan disbursement increased in 2022 and slightly stabilized in 2023.</a:t>
            </a:r>
          </a:p>
          <a:p>
            <a:br>
              <a:rPr lang="en-US" dirty="0"/>
            </a:br>
            <a:r>
              <a:rPr lang="en-US" dirty="0"/>
              <a:t>Time-based analysis helps in understanding growth and seasonality.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922379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F238-73E8-D2D1-70B6-3A625FC1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Monthly Average Interest Rate Trend</a:t>
            </a:r>
            <a:endParaRPr lang="en-IN" u="sn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8E4AED-71C4-5451-5CB6-670092598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1" y="2384166"/>
            <a:ext cx="4958854" cy="27434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7FF4CF-ADAA-33B0-F042-86CB8E0125A2}"/>
              </a:ext>
            </a:extLst>
          </p:cNvPr>
          <p:cNvSpPr txBox="1"/>
          <p:nvPr/>
        </p:nvSpPr>
        <p:spPr>
          <a:xfrm>
            <a:off x="1295402" y="2819280"/>
            <a:ext cx="408342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chart shows monthly fluctuations in average interest rates.</a:t>
            </a:r>
          </a:p>
          <a:p>
            <a:br>
              <a:rPr lang="en-US" dirty="0"/>
            </a:br>
            <a:r>
              <a:rPr lang="en-US" dirty="0"/>
              <a:t>Interest rates remain mostly stable with minor seasonal variations.</a:t>
            </a:r>
          </a:p>
          <a:p>
            <a:br>
              <a:rPr lang="en-US" dirty="0"/>
            </a:br>
            <a:r>
              <a:rPr lang="en-US" dirty="0"/>
              <a:t>This helps assess pricing consistency over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65437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C852DF-6C9E-28CC-C06B-AB32F121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Key Insights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0F4B316-78CE-F4D4-A48A-0BE01C522D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67445" y="1935921"/>
            <a:ext cx="8646459" cy="4121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overall </a:t>
            </a:r>
            <a:r>
              <a:rPr lang="en-US" sz="1600" b="1" dirty="0"/>
              <a:t>loan repayment rate is around 80%</a:t>
            </a:r>
            <a:r>
              <a:rPr lang="en-US" sz="1600" dirty="0"/>
              <a:t>, which indicates a generally healthy loan portfolio. However, the remaining default portion still represents a significant risk exposure.</a:t>
            </a: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Debt consolidation loans contribute the highest share</a:t>
            </a:r>
            <a:r>
              <a:rPr lang="en-US" sz="1600" dirty="0"/>
              <a:t> of total loan amount, making them the most influential loan category in the portfolio.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Employed borrowers show better repayment behavior</a:t>
            </a:r>
            <a:r>
              <a:rPr lang="en-US" sz="1600" dirty="0"/>
              <a:t> compared to unemployed or student segments, highlighting the importance of income stability in loan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Loan disbursement and repayment activity </a:t>
            </a:r>
            <a:r>
              <a:rPr lang="en-US" sz="1600" b="1" dirty="0"/>
              <a:t>peaked in 2022</a:t>
            </a:r>
            <a:r>
              <a:rPr lang="en-US" sz="1600" dirty="0"/>
              <a:t>, while default levels remained relatively stable across years.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Higher delinquency levels are associated with </a:t>
            </a:r>
            <a:r>
              <a:rPr lang="en-US" sz="1600" b="1" dirty="0"/>
              <a:t>higher outstanding loan balances</a:t>
            </a:r>
            <a:r>
              <a:rPr lang="en-US" sz="1600" dirty="0"/>
              <a:t>, increasing overall credit risk for the institution.</a:t>
            </a:r>
          </a:p>
        </p:txBody>
      </p:sp>
    </p:spTree>
    <p:extLst>
      <p:ext uri="{BB962C8B-B14F-4D97-AF65-F5344CB8AC3E}">
        <p14:creationId xmlns:p14="http://schemas.microsoft.com/office/powerpoint/2010/main" val="75304361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30350-C424-F392-28B4-DAADDA9AD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Recommendations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A5C1666-940B-435F-F482-0460919880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5214" y="2022673"/>
            <a:ext cx="9890922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Financial institutions should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closely monitor borrowers with past delinquencies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as they carry higher default risk and outstanding exposure.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Stricter credit checks and risk-based pricing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should be applied for high-risk borrower segments to reduce future defaults.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debt consolidation loans dominate the portfolio, lenders should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eligibility criteria and repayment terms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this category.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warning systems should be implemented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repayment issues at an early stage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take preventive 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Banks and NBFCs can use these insights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lending strategies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improve overall portfolio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61873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E93E0-5B03-56E3-0031-51604D42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76E35-14BE-55FC-3C57-90662C261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983" y="1935921"/>
            <a:ext cx="10353762" cy="36951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Power BI project successfully analyzes </a:t>
            </a:r>
            <a:r>
              <a:rPr lang="en-US" b="1" dirty="0"/>
              <a:t>loan repayment behavior and credit risk</a:t>
            </a:r>
            <a:r>
              <a:rPr lang="en-US" dirty="0"/>
              <a:t> using real-world fintech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dashboard provides a clear understanding of </a:t>
            </a:r>
            <a:r>
              <a:rPr lang="en-US" b="1" dirty="0"/>
              <a:t>repayment trends, borrower risk profiles, and delinquency patterns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KPIs such as repayment rate, default rate, and outstanding amount help in </a:t>
            </a:r>
            <a:r>
              <a:rPr lang="en-US" b="1" dirty="0"/>
              <a:t>data-driven credit decision-making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Overall, the project demonstrates practical skills in </a:t>
            </a:r>
            <a:r>
              <a:rPr lang="en-US" b="1" dirty="0"/>
              <a:t>data analysis, business understanding, and Power BI visualization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project demonstrates how data visualization can support effective credit risk management.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43627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56</TotalTime>
  <Words>845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Baskerville Old Face</vt:lpstr>
      <vt:lpstr>Gill Sans MT</vt:lpstr>
      <vt:lpstr>Gallery</vt:lpstr>
      <vt:lpstr>Loan Repayment &amp; Credit Risk Analysis</vt:lpstr>
      <vt:lpstr>Introduction</vt:lpstr>
      <vt:lpstr>Objectives</vt:lpstr>
      <vt:lpstr>Business Requirement Document (BRD)</vt:lpstr>
      <vt:lpstr>Dataset Overview</vt:lpstr>
      <vt:lpstr>Loan Repayment Status Distribution</vt:lpstr>
      <vt:lpstr>Loan Amount by Purpose</vt:lpstr>
      <vt:lpstr>Loan Repayment Status by Employment Type</vt:lpstr>
      <vt:lpstr>Year-wise Loan Repayment vs Default</vt:lpstr>
      <vt:lpstr>Loan Amount Trend (Year / Quarter)</vt:lpstr>
      <vt:lpstr>Monthly Average Interest Rate Trend</vt:lpstr>
      <vt:lpstr>Key Insights</vt:lpstr>
      <vt:lpstr>Recommendations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Repayment &amp; Credit Risk Analysis</dc:title>
  <dc:creator>Abhinav Shivhare</dc:creator>
  <cp:lastModifiedBy>Abhinav Shivhare</cp:lastModifiedBy>
  <cp:revision>7</cp:revision>
  <dcterms:created xsi:type="dcterms:W3CDTF">2025-12-27T14:11:02Z</dcterms:created>
  <dcterms:modified xsi:type="dcterms:W3CDTF">2025-12-27T15:21:33Z</dcterms:modified>
</cp:coreProperties>
</file>